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D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¿Quién va a cancelar Netflix?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880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1E9F2"/>
                </a:solidFill>
              </a:defRPr>
            </a:pPr>
            <a:r>
              <a:t>Análisis exploratorio y modelos de clasificación · Caso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94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1E9F2"/>
                </a:solidFill>
              </a:defRPr>
            </a:pPr>
            <a:r>
              <a:t>Fuente: neflix.csv · 5,000 filas limpias · Métricas calculadas sobre prueba reservada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D4C"/>
                </a:solidFill>
              </a:defRPr>
            </a:pPr>
            <a:r>
              <a:t>Datos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C"/>
                </a:solidFill>
              </a:defRPr>
            </a:pPr>
            <a:r>
              <a:t>Registros limpios exportados; los faltantes de predictores se imputan dentro del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5606C"/>
                </a:solidFill>
              </a:defRPr>
            </a:pPr>
            <a:r>
              <a:t>Archivo analizado: neflix.csv. Filas originales: 5,025; filas conservadas después de resolver duplicados: 5,000.</a:t>
            </a:r>
          </a:p>
          <a:p>
            <a:pPr>
              <a:spcAft>
                <a:spcPts val="1400"/>
              </a:spcAft>
              <a:defRPr sz="1800">
                <a:solidFill>
                  <a:srgbClr val="55606C"/>
                </a:solidFill>
              </a:defRPr>
            </a:pPr>
            <a:r>
              <a:t>Cancelaciones válidas: 1,116 de 5,000 usuarios (22.3%).</a:t>
            </a:r>
          </a:p>
          <a:p>
            <a:pPr>
              <a:spcAft>
                <a:spcPts val="1400"/>
              </a:spcAft>
              <a:defRPr sz="1800">
                <a:solidFill>
                  <a:srgbClr val="55606C"/>
                </a:solidFill>
              </a:defRPr>
            </a:pPr>
            <a:r>
              <a:t>Filas con valores faltantes en al menos una columna: 514.</a:t>
            </a:r>
          </a:p>
          <a:p>
            <a:pPr>
              <a:spcAft>
                <a:spcPts val="1400"/>
              </a:spcAft>
              <a:defRPr sz="1800">
                <a:solidFill>
                  <a:srgbClr val="55606C"/>
                </a:solidFill>
              </a:defRPr>
            </a:pPr>
            <a:r>
              <a:t>Faltantes por variable: calificacion_promedio=200, edad=155, metodo_pago=100, horas_vistas_mes=79</a:t>
            </a:r>
          </a:p>
          <a:p>
            <a:pPr>
              <a:spcAft>
                <a:spcPts val="1400"/>
              </a:spcAft>
              <a:defRPr sz="1800">
                <a:solidFill>
                  <a:srgbClr val="55606C"/>
                </a:solidFill>
              </a:defRPr>
            </a:pPr>
            <a:r>
              <a:t>La variable objetivo no se imputa; fecha_registro e id_usuario se excluyen como predictores.</a:t>
            </a:r>
          </a:p>
          <a:p>
            <a:pPr>
              <a:spcAft>
                <a:spcPts val="1400"/>
              </a:spcAft>
              <a:defRPr sz="1800">
                <a:solidFill>
                  <a:srgbClr val="55606C"/>
                </a:solidFill>
              </a:defRPr>
            </a:pPr>
            <a:r>
              <a:t>La asociación encontrada es descriptiva/predictiva y no demuestra causalidad ni validez en operación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D4C"/>
                </a:solidFill>
              </a:defRPr>
            </a:pPr>
            <a:r>
              <a:t>Perfiles descriptivos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C"/>
                </a:solidFill>
              </a:defRPr>
            </a:pPr>
            <a:r>
              <a:t>Tasa y tamaño de cada grupo; comparar tasas pequeñas sin ignorar el número de usuarios.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Plan: mayor tasa observada en Basico — 32.6% (655 de 2011 usuarios).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País: mayor tasa observada en Ecuador — 25.1% (72 de 287 usuarios).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Método de pago: mayor tasa observada en Tarjeta De Debito — 27.5% (408 de 1486 usuarios).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Dispositivo: mayor tasa observada en Laptop — 25.3% (232 de 918 usuarios).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Horas vistas/mes: mediana No cancela=33.7; Sí cancela=23.2.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Días desde último acceso: mediana No cancela=4; Sí cancela=7.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Calificación promedio: mediana No cancela=3.7; Sí cancela=3.4.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Tickets de soporte: mediana No cancela=0; Sí cancela=0.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D4C"/>
                </a:solidFill>
              </a:defRPr>
            </a:pPr>
            <a:r>
              <a:t>Evaluación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C"/>
                </a:solidFill>
              </a:defRPr>
            </a:pPr>
            <a:r>
              <a:t>Prueba reservada 25%; los modelos se comparan usando cancelo=1 como clase positiva.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316C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Exactitud</a:t>
                      </a:r>
                    </a:p>
                  </a:txBody>
                  <a:tcPr>
                    <a:solidFill>
                      <a:srgbClr val="316C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Precisión</a:t>
                      </a:r>
                    </a:p>
                  </a:txBody>
                  <a:tcPr>
                    <a:solidFill>
                      <a:srgbClr val="316C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16C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316C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 CV train</a:t>
                      </a:r>
                    </a:p>
                  </a:txBody>
                  <a:tcPr>
                    <a:solidFill>
                      <a:srgbClr val="316CA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LogisticRegression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0.547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RandomForestClassifier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0.441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DummyClassifier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55606C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49039"/>
            <a:ext cx="7132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06C"/>
                </a:solidFill>
              </a:defRPr>
            </a:pPr>
            <a:r>
              <a:t>Prueba: 1,250 usuarios; clase 0=971, clase 1=279. La exactitud puede ocultar un recall bajo en la clase minoritaria.</a:t>
            </a:r>
          </a:p>
        </p:txBody>
      </p:sp>
      <p:pic>
        <p:nvPicPr>
          <p:cNvPr id="6" name="Picture 5" descr="matriz_confusion_logistic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069080"/>
            <a:ext cx="320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D4C"/>
                </a:solidFill>
              </a:defRPr>
            </a:pPr>
            <a:r>
              <a:t>Variables asociadas a la predicción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C"/>
                </a:solidFill>
              </a:defRPr>
            </a:pPr>
            <a:r>
              <a:t>Importancia por permutación, métrica F1, calculada solo con entrenamiento.</a:t>
            </a:r>
          </a:p>
        </p:txBody>
      </p:sp>
      <p:pic>
        <p:nvPicPr>
          <p:cNvPr id="4" name="Picture 3" descr="variables_import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949440" cy="463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50876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horas_vistas_mes: importancia media 0.130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dias_desde_ultimo_acceso: importancia media 0.095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precio_mensual_soles: importancia media 0.088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calificacion_promedio: importancia media 0.055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tickets_soporte: importancia media 0.039</a:t>
            </a:r>
          </a:p>
          <a:p>
            <a:pPr>
              <a:spcAft>
                <a:spcPts val="1400"/>
              </a:spcAft>
              <a:defRPr sz="1400">
                <a:solidFill>
                  <a:srgbClr val="55606C"/>
                </a:solidFill>
              </a:defRPr>
            </a:pPr>
            <a:r>
              <a:t>La importancia predictiva no implica que una variable cause la cancelación.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D4C"/>
                </a:solidFill>
              </a:defRPr>
            </a:pPr>
            <a:r>
              <a:t>Acciones a validar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06C"/>
                </a:solidFill>
              </a:defRPr>
            </a:pPr>
            <a:r>
              <a:t>Propuestas de experimentación; no se atribuyen ahorros ni eficacia no medida.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5606C"/>
                </a:solidFill>
              </a:defRPr>
            </a:pPr>
            <a:r>
              <a:t>Probar una intervención de reactivación para usuarios con menor actividad reciente; medir retención a 30 días y tasa de cancelación del grupo.</a:t>
            </a:r>
          </a:p>
          <a:p>
            <a:pPr>
              <a:spcAft>
                <a:spcPts val="1400"/>
              </a:spcAft>
              <a:defRPr sz="1800">
                <a:solidFill>
                  <a:srgbClr val="55606C"/>
                </a:solidFill>
              </a:defRPr>
            </a:pPr>
            <a:r>
              <a:t>Revisar la experiencia de soporte en segmentos con más tickets; medir resolución en primer contacto y cancelación posterior.</a:t>
            </a:r>
          </a:p>
          <a:p>
            <a:pPr>
              <a:spcAft>
                <a:spcPts val="1400"/>
              </a:spcAft>
              <a:defRPr sz="1800">
                <a:solidFill>
                  <a:srgbClr val="55606C"/>
                </a:solidFill>
              </a:defRPr>
            </a:pPr>
            <a:r>
              <a:t>Auditar el flujo de pago en los grupos con mayor tasa descriptiva; medir fallos de pago y cancelación, controlando el tamaño de cada grupo.</a:t>
            </a:r>
          </a:p>
          <a:p>
            <a:pPr>
              <a:spcAft>
                <a:spcPts val="1400"/>
              </a:spcAft>
              <a:defRPr sz="1800">
                <a:solidFill>
                  <a:srgbClr val="55606C"/>
                </a:solidFill>
              </a:defRPr>
            </a:pPr>
            <a:r>
              <a:t>Validar cualquier campaña con grupo de control y definir la ventana temporal antes de atribuir resultados.</a:t>
            </a:r>
          </a:p>
          <a:p>
            <a:pPr>
              <a:spcAft>
                <a:spcPts val="1400"/>
              </a:spcAft>
              <a:defRPr sz="1800">
                <a:solidFill>
                  <a:srgbClr val="55606C"/>
                </a:solidFill>
              </a:defRPr>
            </a:pPr>
            <a:r>
              <a:t>Limitación temporal: el dataset no prueba que todas las variables estuvieran disponibles antes de cancelar.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